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731520"/>
            <a:ext cx="2286000" cy="2286000"/>
          </a:xfrm>
          <a:prstGeom prst="ellipse">
            <a:avLst/>
          </a:prstGeom>
          <a:solidFill>
            <a:srgbClr val="1D3461">
              <a:alpha val="7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Legal Case Similarity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Precedent Recommendation System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20574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Transformer and Graph Neural Networks (GNN)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788920"/>
            <a:ext cx="8229600" cy="274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9260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Sumit Khetre  •  Ankita Beldar  •  Vedant Gaygol  •  Diptee Chikhmurge  •  Sharmila Kharat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3101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Academy of Engineering, Alandi, Pune, India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393192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C9A84C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57200" cy="5029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887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36"/>
                </a:solidFill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1188720"/>
            <a:ext cx="36118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1887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883664"/>
            <a:ext cx="457200" cy="5029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88366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36"/>
                </a:solidFill>
              </a:rPr>
              <a:t>02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1883664"/>
            <a:ext cx="36118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1883664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578608"/>
            <a:ext cx="457200" cy="5029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57860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36"/>
                </a:solidFill>
              </a:rPr>
              <a:t>03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8680" y="2578608"/>
            <a:ext cx="36118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60120" y="257860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273552"/>
            <a:ext cx="457200" cy="5029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2735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36"/>
                </a:solidFill>
              </a:rPr>
              <a:t>04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68680" y="3273552"/>
            <a:ext cx="36118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60120" y="327355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&amp; Architecture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968496"/>
            <a:ext cx="457200" cy="5029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96849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36"/>
                </a:solidFill>
              </a:rPr>
              <a:t>05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68680" y="3968496"/>
            <a:ext cx="36118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0120" y="3968496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Algorithm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1188720"/>
            <a:ext cx="457200" cy="5029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11887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36"/>
                </a:solidFill>
              </a:rPr>
              <a:t>06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257800" y="1188720"/>
            <a:ext cx="34747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349240" y="1188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Embedding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1883664"/>
            <a:ext cx="457200" cy="5029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188366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36"/>
                </a:solidFill>
              </a:rPr>
              <a:t>07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257800" y="1883664"/>
            <a:ext cx="34747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349240" y="188366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Performance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54880" y="2578608"/>
            <a:ext cx="457200" cy="5029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257860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36"/>
                </a:solidFill>
              </a:rPr>
              <a:t>08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257800" y="2578608"/>
            <a:ext cx="34747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349240" y="257860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Visualization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754880" y="3273552"/>
            <a:ext cx="457200" cy="5029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7" name="Text 35"/>
          <p:cNvSpPr/>
          <p:nvPr/>
        </p:nvSpPr>
        <p:spPr>
          <a:xfrm>
            <a:off x="4754880" y="32735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36"/>
                </a:solidFill>
              </a:rPr>
              <a:t>09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257800" y="3273552"/>
            <a:ext cx="34747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349240" y="327355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91440" cy="15544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of Precedent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 use past decisions to ensure consistency in new judgments.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188720"/>
            <a:ext cx="91440" cy="15544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280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4068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Volume of Data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7373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legal system has millions of case documents — searching manually is very difficult.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88036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880360"/>
            <a:ext cx="91440" cy="15544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971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51560" y="2971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Fails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4290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search systems use TF-IDF (keyword matching) which misses cases using different words with same meaning.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88036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880360"/>
            <a:ext cx="91440" cy="15544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971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40680" y="2971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as Solution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34290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NLP models like BERT understand meaning behind words, not just exact matches.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3931920" cy="3657600"/>
          </a:xfrm>
          <a:prstGeom prst="rect">
            <a:avLst/>
          </a:prstGeom>
          <a:solidFill>
            <a:srgbClr val="FFF3F3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393192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97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❌  Problems with Old Systems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691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Keyword-based search only matches exact words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22219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Cannot understand meaning or context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275234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Same concept expressed differently = missed results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328269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Manually reviewing thousands of cases wastes time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" y="38130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visual understanding of case relationships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937760" y="1097280"/>
            <a:ext cx="3931920" cy="3657600"/>
          </a:xfrm>
          <a:prstGeom prst="rect">
            <a:avLst/>
          </a:prstGeom>
          <a:solidFill>
            <a:srgbClr val="F0FB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37760" y="1097280"/>
            <a:ext cx="3931920" cy="45720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097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✔  Proposed Solution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74920" y="1691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 LegalBERT for semantic understanding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74920" y="22219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Find similar cases even with different words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74920" y="275234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Automatically rank the most relevant results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74920" y="328269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Visualize case relationships using graphs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74920" y="38130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Save time for lawyers, courts &amp; researchers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8595360" cy="658368"/>
          </a:xfrm>
          <a:prstGeom prst="rect">
            <a:avLst/>
          </a:prstGeom>
          <a:solidFill>
            <a:srgbClr val="FFF5EE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73152" cy="658368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6" name="Shape 4"/>
          <p:cNvSpPr/>
          <p:nvPr/>
        </p:nvSpPr>
        <p:spPr>
          <a:xfrm>
            <a:off x="438912" y="1197864"/>
            <a:ext cx="1234440" cy="54864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197864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64792" y="11978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[Traditional]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64792" y="1417320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word frequency. Cannot understand meaning. Fails when same concept uses different words.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892808"/>
            <a:ext cx="8595360" cy="658368"/>
          </a:xfrm>
          <a:prstGeom prst="rect">
            <a:avLst/>
          </a:prstGeom>
          <a:solidFill>
            <a:srgbClr val="F9F0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892808"/>
            <a:ext cx="73152" cy="658368"/>
          </a:xfrm>
          <a:prstGeom prst="rect">
            <a:avLst/>
          </a:prstGeom>
          <a:solidFill>
            <a:srgbClr val="6B4E71"/>
          </a:solidFill>
          <a:ln/>
        </p:spPr>
      </p:sp>
      <p:sp>
        <p:nvSpPr>
          <p:cNvPr id="12" name="Shape 10"/>
          <p:cNvSpPr/>
          <p:nvPr/>
        </p:nvSpPr>
        <p:spPr>
          <a:xfrm>
            <a:off x="438912" y="1947672"/>
            <a:ext cx="1234440" cy="548640"/>
          </a:xfrm>
          <a:prstGeom prst="rect">
            <a:avLst/>
          </a:prstGeom>
          <a:solidFill>
            <a:srgbClr val="6B4E71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" y="194767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764792" y="19476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4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[ML-based]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764792" y="2167128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manual feature extraction. Works on small texts but struggles with long legal documents.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642616"/>
            <a:ext cx="8595360" cy="658368"/>
          </a:xfrm>
          <a:prstGeom prst="rect">
            <a:avLst/>
          </a:prstGeom>
          <a:solidFill>
            <a:srgbClr val="EBF5FB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642616"/>
            <a:ext cx="73152" cy="658368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8" name="Shape 16"/>
          <p:cNvSpPr/>
          <p:nvPr/>
        </p:nvSpPr>
        <p:spPr>
          <a:xfrm>
            <a:off x="438912" y="2697480"/>
            <a:ext cx="1234440" cy="54864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" y="269748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&amp; LSTM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764792" y="2697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[Deep Learning]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764792" y="2916936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finds local patterns; LSTM handles sequences. But both fail on very long documents.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392424"/>
            <a:ext cx="8595360" cy="658368"/>
          </a:xfrm>
          <a:prstGeom prst="rect">
            <a:avLst/>
          </a:prstGeom>
          <a:solidFill>
            <a:srgbClr val="F0FBF5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392424"/>
            <a:ext cx="73152" cy="658368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24" name="Shape 22"/>
          <p:cNvSpPr/>
          <p:nvPr/>
        </p:nvSpPr>
        <p:spPr>
          <a:xfrm>
            <a:off x="438912" y="3447288"/>
            <a:ext cx="1234440" cy="54864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25" name="Text 23"/>
          <p:cNvSpPr/>
          <p:nvPr/>
        </p:nvSpPr>
        <p:spPr>
          <a:xfrm>
            <a:off x="438912" y="344728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764792" y="34472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[Transformers]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764792" y="3666744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context and word relationships. Much better accuracy for text understanding.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142232"/>
            <a:ext cx="8595360" cy="658368"/>
          </a:xfrm>
          <a:prstGeom prst="rect">
            <a:avLst/>
          </a:prstGeom>
          <a:solidFill>
            <a:srgbClr val="FFFDE7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4142232"/>
            <a:ext cx="73152" cy="658368"/>
          </a:xfrm>
          <a:prstGeom prst="rect">
            <a:avLst/>
          </a:prstGeom>
          <a:solidFill>
            <a:srgbClr val="B7950B"/>
          </a:solidFill>
          <a:ln/>
        </p:spPr>
      </p:sp>
      <p:sp>
        <p:nvSpPr>
          <p:cNvPr id="30" name="Shape 28"/>
          <p:cNvSpPr/>
          <p:nvPr/>
        </p:nvSpPr>
        <p:spPr>
          <a:xfrm>
            <a:off x="438912" y="4197096"/>
            <a:ext cx="1234440" cy="548640"/>
          </a:xfrm>
          <a:prstGeom prst="rect">
            <a:avLst/>
          </a:prstGeom>
          <a:solidFill>
            <a:srgbClr val="B7950B"/>
          </a:solidFill>
          <a:ln/>
        </p:spPr>
      </p:sp>
      <p:sp>
        <p:nvSpPr>
          <p:cNvPr id="31" name="Text 29"/>
          <p:cNvSpPr/>
          <p:nvPr/>
        </p:nvSpPr>
        <p:spPr>
          <a:xfrm>
            <a:off x="438912" y="4197096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LegalBERT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764792" y="41970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795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[Specialized]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764792" y="441655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specifically on legal text. Best performance on legal documents and terminology.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2743200" cy="438912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1188720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Input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682496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legal case document is provided as input query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63240" y="1984248"/>
            <a:ext cx="13716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118872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88720"/>
            <a:ext cx="2743200" cy="438912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1" name="Text 9"/>
          <p:cNvSpPr/>
          <p:nvPr/>
        </p:nvSpPr>
        <p:spPr>
          <a:xfrm>
            <a:off x="3273552" y="1188720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Preprocess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1682496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is cleaned: remove symbols, concatenate lists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89320" y="1984248"/>
            <a:ext cx="13716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18872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188720"/>
            <a:ext cx="2743200" cy="438912"/>
          </a:xfrm>
          <a:prstGeom prst="rect">
            <a:avLst/>
          </a:prstGeom>
          <a:solidFill>
            <a:srgbClr val="6B4E71"/>
          </a:solidFill>
          <a:ln/>
        </p:spPr>
      </p:sp>
      <p:sp>
        <p:nvSpPr>
          <p:cNvPr id="16" name="Text 14"/>
          <p:cNvSpPr/>
          <p:nvPr/>
        </p:nvSpPr>
        <p:spPr>
          <a:xfrm>
            <a:off x="6199632" y="1188720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LegalBERT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1682496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384-dimensional embedding vectors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06324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063240"/>
            <a:ext cx="2743200" cy="438912"/>
          </a:xfrm>
          <a:prstGeom prst="rect">
            <a:avLst/>
          </a:prstGeom>
          <a:solidFill>
            <a:srgbClr val="B7950B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" y="3063240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Similarity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3557016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computed against all candidates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063240" y="3858768"/>
            <a:ext cx="13716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306324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0" y="3063240"/>
            <a:ext cx="2743200" cy="43891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3273552" y="3063240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Top-K Rank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291840" y="3557016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similar cases are ranked and returned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89320" y="3858768"/>
            <a:ext cx="13716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0" y="306324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3063240"/>
            <a:ext cx="2743200" cy="43891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6199632" y="3063240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6: Graph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217920" y="3557016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graph shows connections between cases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645920" y="1097280"/>
            <a:ext cx="5852160" cy="47548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5" name="Text 3"/>
          <p:cNvSpPr/>
          <p:nvPr/>
        </p:nvSpPr>
        <p:spPr>
          <a:xfrm>
            <a:off x="1691640" y="109728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ACQUISITION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023360" y="1133856"/>
            <a:ext cx="27432" cy="40233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114800" y="109728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ILDC / Court Cases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572768"/>
            <a:ext cx="0" cy="73152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645920"/>
            <a:ext cx="5852160" cy="475488"/>
          </a:xfrm>
          <a:prstGeom prst="rect">
            <a:avLst/>
          </a:prstGeom>
          <a:solidFill>
            <a:srgbClr val="1A5E2E"/>
          </a:solidFill>
          <a:ln/>
        </p:spPr>
      </p:sp>
      <p:sp>
        <p:nvSpPr>
          <p:cNvPr id="10" name="Text 8"/>
          <p:cNvSpPr/>
          <p:nvPr/>
        </p:nvSpPr>
        <p:spPr>
          <a:xfrm>
            <a:off x="1691640" y="164592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023360" y="1682496"/>
            <a:ext cx="27432" cy="40233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0" y="164592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Cleaning · Tokenization · Citation Extraction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2121408"/>
            <a:ext cx="0" cy="73152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45920" y="2194560"/>
            <a:ext cx="5852160" cy="475488"/>
          </a:xfrm>
          <a:prstGeom prst="rect">
            <a:avLst/>
          </a:prstGeom>
          <a:solidFill>
            <a:srgbClr val="4A235A"/>
          </a:solidFill>
          <a:ln/>
        </p:spPr>
      </p:sp>
      <p:sp>
        <p:nvSpPr>
          <p:cNvPr id="15" name="Text 13"/>
          <p:cNvSpPr/>
          <p:nvPr/>
        </p:nvSpPr>
        <p:spPr>
          <a:xfrm>
            <a:off x="1691640" y="219456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EMBEDDING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023360" y="2231136"/>
            <a:ext cx="27432" cy="40233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0" y="219456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LegalBERT → Contextual Vectors (384-dim)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2670048"/>
            <a:ext cx="0" cy="73152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0" y="2743200"/>
            <a:ext cx="5852160" cy="475488"/>
          </a:xfrm>
          <a:prstGeom prst="rect">
            <a:avLst/>
          </a:prstGeom>
          <a:solidFill>
            <a:srgbClr val="7D6608"/>
          </a:solidFill>
          <a:ln/>
        </p:spPr>
      </p:sp>
      <p:sp>
        <p:nvSpPr>
          <p:cNvPr id="20" name="Text 18"/>
          <p:cNvSpPr/>
          <p:nvPr/>
        </p:nvSpPr>
        <p:spPr>
          <a:xfrm>
            <a:off x="1691640" y="274320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GRAPH CREATION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023360" y="2779776"/>
            <a:ext cx="27432" cy="40233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0" y="274320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Nodes: Cases  |  Edges: Citations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3218688"/>
            <a:ext cx="0" cy="73152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0" y="3291840"/>
            <a:ext cx="5852160" cy="475488"/>
          </a:xfrm>
          <a:prstGeom prst="rect">
            <a:avLst/>
          </a:prstGeom>
          <a:solidFill>
            <a:srgbClr val="784212"/>
          </a:solidFill>
          <a:ln/>
        </p:spPr>
      </p:sp>
      <p:sp>
        <p:nvSpPr>
          <p:cNvPr id="25" name="Text 23"/>
          <p:cNvSpPr/>
          <p:nvPr/>
        </p:nvSpPr>
        <p:spPr>
          <a:xfrm>
            <a:off x="1691640" y="329184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NEURAL NETWORK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023360" y="3328416"/>
            <a:ext cx="27432" cy="40233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0" y="329184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GCN / GAT → Citation-Aware Embeddings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0" y="3767328"/>
            <a:ext cx="0" cy="73152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45920" y="3840480"/>
            <a:ext cx="5852160" cy="475488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0" name="Text 28"/>
          <p:cNvSpPr/>
          <p:nvPr/>
        </p:nvSpPr>
        <p:spPr>
          <a:xfrm>
            <a:off x="1691640" y="384048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CALCULATION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023360" y="3877056"/>
            <a:ext cx="27432" cy="40233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0" y="384048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0" y="4315968"/>
            <a:ext cx="0" cy="73152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45920" y="4389120"/>
            <a:ext cx="5852160" cy="475488"/>
          </a:xfrm>
          <a:prstGeom prst="rect">
            <a:avLst/>
          </a:prstGeom>
          <a:solidFill>
            <a:srgbClr val="7B241C"/>
          </a:solidFill>
          <a:ln/>
        </p:spPr>
      </p:sp>
      <p:sp>
        <p:nvSpPr>
          <p:cNvPr id="35" name="Text 33"/>
          <p:cNvSpPr/>
          <p:nvPr/>
        </p:nvSpPr>
        <p:spPr>
          <a:xfrm>
            <a:off x="1691640" y="438912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023360" y="4425696"/>
            <a:ext cx="27432" cy="40233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114800" y="438912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Cases  ·  Similarity Scores  ·  Explanation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Model: Cosine Similarity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1188720"/>
            <a:ext cx="6400800" cy="1097280"/>
          </a:xfrm>
          <a:prstGeom prst="rect">
            <a:avLst/>
          </a:prstGeom>
          <a:solidFill>
            <a:srgbClr val="0F1E3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1417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Similarity(A, B)  =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0" y="12527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B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26280" y="1673352"/>
            <a:ext cx="192024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7099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‖A‖ · ‖B‖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74320" y="2468880"/>
            <a:ext cx="41605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468880"/>
            <a:ext cx="1097280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24688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&amp; 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63040" y="24688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vectors of two legal cases generated by LegalBERT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2468880"/>
            <a:ext cx="41605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2468880"/>
            <a:ext cx="1097280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24688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897880" y="24688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product: measures how much two vectors point in the same direction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291840"/>
            <a:ext cx="41605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291840"/>
            <a:ext cx="1097280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32918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‖A‖ · ‖B‖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63040" y="32918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of magnitudes: normalizes the score to range 0 to 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3291840"/>
            <a:ext cx="41605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3291840"/>
            <a:ext cx="1097280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32918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897880" y="32918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are very similar (same direction)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114800"/>
            <a:ext cx="41605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4114800"/>
            <a:ext cx="1097280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41148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63040" y="4114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are completely different (perpendicular)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4114800"/>
            <a:ext cx="41605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4114800"/>
            <a:ext cx="1097280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1" name="Text 29"/>
          <p:cNvSpPr/>
          <p:nvPr/>
        </p:nvSpPr>
        <p:spPr>
          <a:xfrm>
            <a:off x="4709160" y="41148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Cosine?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897880" y="4114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for text because it ignores document length differences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Legal Case Similarity Retrieval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37490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Algorithm 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384048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600200"/>
            <a:ext cx="3886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D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Case
</a:t>
            </a:r>
            <a:pPr indent="0" marL="0">
              <a:buNone/>
            </a:pPr>
            <a:r>
              <a:rPr lang="en-US" sz="125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</a:t>
            </a:r>
            <a:pPr indent="0" marL="0">
              <a:buNone/>
            </a:pPr>
            <a:r>
              <a:rPr lang="en-US" sz="12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 embedding using LegalBERT
</a:t>
            </a:r>
            <a:pPr indent="0" marL="0">
              <a:buNone/>
            </a:pPr>
            <a:r>
              <a:rPr lang="en-US" sz="125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</a:t>
            </a:r>
            <a:pPr indent="0" marL="0">
              <a:buNone/>
            </a:pPr>
            <a:r>
              <a:rPr lang="en-US" sz="12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 cosine similarity with all candidates
</a:t>
            </a:r>
            <a:pPr indent="0" marL="0">
              <a:buNone/>
            </a:pPr>
            <a:r>
              <a:rPr lang="en-US" sz="125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</a:t>
            </a:r>
            <a:pPr indent="0" marL="0">
              <a:buNone/>
            </a:pPr>
            <a:r>
              <a:rPr lang="en-US" sz="12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 cases by similarity score (Top-K)
</a:t>
            </a:r>
            <a:pPr indent="0" marL="0">
              <a:buNone/>
            </a:pPr>
            <a:r>
              <a:rPr lang="en-US" sz="125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</a:t>
            </a:r>
            <a:pPr indent="0" marL="0">
              <a:buNone/>
            </a:pPr>
            <a:r>
              <a:rPr lang="en-US" sz="12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Visualize connections using graph
</a:t>
            </a:r>
            <a:pPr indent="0" marL="0">
              <a:buNone/>
            </a:pPr>
            <a:r>
              <a:rPr lang="en-US" sz="1250" b="1" dirty="0">
                <a:solidFill>
                  <a:srgbClr val="F0D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Similar cases with scores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16052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97280"/>
            <a:ext cx="1005840" cy="84124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097280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E36"/>
                </a:solidFill>
              </a:rPr>
              <a:t>Step 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60720" y="1133856"/>
            <a:ext cx="2971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case text is cleaned and tokenized, then passed through LegalBERT to create a 384-dimensional vector.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2029968"/>
            <a:ext cx="416052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2029968"/>
            <a:ext cx="1005840" cy="84124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2029968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E36"/>
                </a:solidFill>
              </a:rPr>
              <a:t>Step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760720" y="2066544"/>
            <a:ext cx="2971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query vector is compared with all 4320 candidate case vectors using the cosine similarity formula.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962656"/>
            <a:ext cx="416052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962656"/>
            <a:ext cx="1005840" cy="84124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2962656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E36"/>
                </a:solidFill>
              </a:rPr>
              <a:t>Step 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760720" y="2999232"/>
            <a:ext cx="2971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are sorted by similarity score. The top K most similar cases are selected for output.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895344"/>
            <a:ext cx="416052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895344"/>
            <a:ext cx="1005840" cy="84124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3895344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E36"/>
                </a:solidFill>
              </a:rPr>
              <a:t>Step 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60720" y="3931920"/>
            <a:ext cx="2971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 is built where the query case is the center node and edges connect to similar cases.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IL-TUR Legal Dataset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920240" cy="1645920"/>
          </a:xfrm>
          <a:prstGeom prst="rect">
            <a:avLst/>
          </a:prstGeom>
          <a:solidFill>
            <a:srgbClr val="1A5276"/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2801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827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208483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Cases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23160" y="1143000"/>
            <a:ext cx="1920240" cy="1645920"/>
          </a:xfrm>
          <a:prstGeom prst="rect">
            <a:avLst/>
          </a:prstGeom>
          <a:solidFill>
            <a:srgbClr val="1A7A4A"/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12801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4,320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423160" y="208483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Cases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143000"/>
            <a:ext cx="1920240" cy="1645920"/>
          </a:xfrm>
          <a:prstGeom prst="rect">
            <a:avLst/>
          </a:prstGeom>
          <a:solidFill>
            <a:srgbClr val="7D6608"/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2801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572000" y="208483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Dimensions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20840" y="1143000"/>
            <a:ext cx="1920240" cy="1645920"/>
          </a:xfrm>
          <a:prstGeom prst="rect">
            <a:avLst/>
          </a:prstGeom>
          <a:solidFill>
            <a:srgbClr val="784212"/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12801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720840" y="208483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Splits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(Train / Val / Test)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41605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71800"/>
            <a:ext cx="73152" cy="8686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" y="3008376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Legal Documents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" y="335584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case contains judicial opinion, facts, and legal arguments.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971800"/>
            <a:ext cx="41605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971800"/>
            <a:ext cx="73152" cy="8686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2" name="Text 20"/>
          <p:cNvSpPr/>
          <p:nvPr/>
        </p:nvSpPr>
        <p:spPr>
          <a:xfrm>
            <a:off x="4873752" y="3008376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Steps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73752" y="335584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special symbols, concatenate text lists, clean content before embedding.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931920"/>
            <a:ext cx="41605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931920"/>
            <a:ext cx="73152" cy="8686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6" name="Text 24"/>
          <p:cNvSpPr/>
          <p:nvPr/>
        </p:nvSpPr>
        <p:spPr>
          <a:xfrm>
            <a:off x="438912" y="3968496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Used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38912" y="431596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cases are compared against candidate cases to find the most similar ones.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3931920"/>
            <a:ext cx="41605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3931920"/>
            <a:ext cx="73152" cy="8686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0" name="Text 28"/>
          <p:cNvSpPr/>
          <p:nvPr/>
        </p:nvSpPr>
        <p:spPr>
          <a:xfrm>
            <a:off x="4873752" y="3968496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Source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73752" y="431596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IL-TUR Dataset provided by Exploration Lab (2023), used for training and testing.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Generation with LegalBERT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685800"/>
          </a:xfrm>
          <a:prstGeom prst="rect">
            <a:avLst/>
          </a:prstGeom>
          <a:solidFill>
            <a:srgbClr val="0F1E3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What is an Embedding?  A word or document converted into numbers (a vector) that captures its meaning.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965960"/>
            <a:ext cx="1508760" cy="9144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96596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Case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(Text)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783080" y="2423160"/>
            <a:ext cx="210312" cy="0"/>
          </a:xfrm>
          <a:prstGeom prst="line">
            <a:avLst/>
          </a:prstGeom>
          <a:noFill/>
          <a:ln w="31750">
            <a:solidFill>
              <a:srgbClr val="C9A8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93392" y="1965960"/>
            <a:ext cx="1508760" cy="91440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0" name="Text 8"/>
          <p:cNvSpPr/>
          <p:nvPr/>
        </p:nvSpPr>
        <p:spPr>
          <a:xfrm>
            <a:off x="1993392" y="196596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(Split words)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502152" y="2423160"/>
            <a:ext cx="210312" cy="0"/>
          </a:xfrm>
          <a:prstGeom prst="line">
            <a:avLst/>
          </a:prstGeom>
          <a:noFill/>
          <a:ln w="31750">
            <a:solidFill>
              <a:srgbClr val="C9A8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12464" y="1965960"/>
            <a:ext cx="1508760" cy="914400"/>
          </a:xfrm>
          <a:prstGeom prst="rect">
            <a:avLst/>
          </a:prstGeom>
          <a:solidFill>
            <a:srgbClr val="6B4E71"/>
          </a:solidFill>
          <a:ln/>
        </p:spPr>
      </p:sp>
      <p:sp>
        <p:nvSpPr>
          <p:cNvPr id="13" name="Text 11"/>
          <p:cNvSpPr/>
          <p:nvPr/>
        </p:nvSpPr>
        <p:spPr>
          <a:xfrm>
            <a:off x="3712464" y="196596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LegalBERT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(AI Model)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221224" y="2423160"/>
            <a:ext cx="210312" cy="0"/>
          </a:xfrm>
          <a:prstGeom prst="line">
            <a:avLst/>
          </a:prstGeom>
          <a:noFill/>
          <a:ln w="31750">
            <a:solidFill>
              <a:srgbClr val="C9A84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31536" y="1965960"/>
            <a:ext cx="1508760" cy="914400"/>
          </a:xfrm>
          <a:prstGeom prst="rect">
            <a:avLst/>
          </a:prstGeom>
          <a:solidFill>
            <a:srgbClr val="7D6608"/>
          </a:solidFill>
          <a:ln/>
        </p:spPr>
      </p:sp>
      <p:sp>
        <p:nvSpPr>
          <p:cNvPr id="16" name="Text 14"/>
          <p:cNvSpPr/>
          <p:nvPr/>
        </p:nvSpPr>
        <p:spPr>
          <a:xfrm>
            <a:off x="5431536" y="196596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384-Dim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940296" y="2423160"/>
            <a:ext cx="210312" cy="0"/>
          </a:xfrm>
          <a:prstGeom prst="line">
            <a:avLst/>
          </a:prstGeom>
          <a:noFill/>
          <a:ln w="31750">
            <a:solidFill>
              <a:srgbClr val="C9A84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50608" y="1965960"/>
            <a:ext cx="150876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7150608" y="196596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✓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3063240"/>
            <a:ext cx="41605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063240"/>
            <a:ext cx="73152" cy="8686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" y="3099816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LegalBERT?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8912" y="344728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version of BERT (a powerful AI model) trained specifically on legal texts like court judgments and legal filings.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3063240"/>
            <a:ext cx="41605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063240"/>
            <a:ext cx="73152" cy="8686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6" name="Text 24"/>
          <p:cNvSpPr/>
          <p:nvPr/>
        </p:nvSpPr>
        <p:spPr>
          <a:xfrm>
            <a:off x="4873752" y="3099816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LegalBERT over BERT?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73752" y="344728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BERT doesn't understand legal terms well. LegalBERT is fine-tuned for legal language — much more accurate.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023360"/>
            <a:ext cx="41605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4023360"/>
            <a:ext cx="73152" cy="8686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0" name="Text 28"/>
          <p:cNvSpPr/>
          <p:nvPr/>
        </p:nvSpPr>
        <p:spPr>
          <a:xfrm>
            <a:off x="438912" y="4059936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Size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38912" y="440740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case is converted to a fixed vector of 384 numbers (dimensions) capturing its full meaning.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4023360"/>
            <a:ext cx="41605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4023360"/>
            <a:ext cx="73152" cy="8686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4" name="Text 32"/>
          <p:cNvSpPr/>
          <p:nvPr/>
        </p:nvSpPr>
        <p:spPr>
          <a:xfrm>
            <a:off x="4873752" y="4059936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384 dimensions?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73752" y="440740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output size of the pre-trained model used. More dimensions = richer representation of the document.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 &amp; Performance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4023360" cy="3657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📊 Recall@5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44752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of the top 5 retrieved cases are actually relevant? Higher is better.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46320" y="105156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51560"/>
            <a:ext cx="4023360" cy="365760"/>
          </a:xfrm>
          <a:prstGeom prst="rect">
            <a:avLst/>
          </a:prstGeom>
          <a:solidFill>
            <a:srgbClr val="784212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📈 Mean Reciprocal Rank (MRR)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444752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high is the first relevant case ranked? Higher rank (lower number) = higher MRR score.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371600" y="2423160"/>
            <a:ext cx="6400800" cy="43891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24231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Model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0" y="24231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Recall@5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0" y="24231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MRR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371600" y="2880360"/>
            <a:ext cx="6400800" cy="502920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2880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Baseline (TF-IDF)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0" y="2880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0.0639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0" y="2880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0.0653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371600" y="3401568"/>
            <a:ext cx="6400800" cy="548640"/>
          </a:xfrm>
          <a:prstGeom prst="rect">
            <a:avLst/>
          </a:prstGeom>
          <a:solidFill>
            <a:srgbClr val="E9F7EF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34015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7A4A"/>
                </a:solidFill>
              </a:rPr>
              <a:t>✅ Proposed Model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0" y="340156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7A4A"/>
                </a:solidFill>
              </a:rPr>
              <a:t>0.0735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43600" y="340156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7A4A"/>
                </a:solidFill>
              </a:rPr>
              <a:t>0.1067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" y="4069080"/>
            <a:ext cx="7315200" cy="502920"/>
          </a:xfrm>
          <a:prstGeom prst="rect">
            <a:avLst/>
          </a:prstGeom>
          <a:solidFill>
            <a:srgbClr val="0F1E3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+15% improvement in Recall@5   |   ⬆ +63% improvement in MRR over baseline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4400" y="4069080"/>
            <a:ext cx="7315200" cy="502920"/>
          </a:xfrm>
          <a:prstGeom prst="rect">
            <a:avLst/>
          </a:prstGeom>
          <a:solidFill>
            <a:srgbClr val="0F1E36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0690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+15% improvement in Recall@5   |   ⬆ +63% improvement in MRR over baseline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Visualization of Case Relationships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14600" y="2514600"/>
            <a:ext cx="822960" cy="822960"/>
          </a:xfrm>
          <a:prstGeom prst="ellipse">
            <a:avLst/>
          </a:prstGeom>
          <a:solidFill>
            <a:srgbClr val="C9A84C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514600" y="2514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E36"/>
                </a:solidFill>
              </a:rPr>
              <a:t>Query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E36"/>
                </a:solidFill>
              </a:rPr>
              <a:t>Case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916936" y="2926080"/>
            <a:ext cx="1554480" cy="0"/>
          </a:xfrm>
          <a:prstGeom prst="line">
            <a:avLst/>
          </a:prstGeom>
          <a:noFill/>
          <a:ln w="19050">
            <a:solidFill>
              <a:srgbClr val="1A7A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33088" y="2606040"/>
            <a:ext cx="694944" cy="640080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8" name="Text 6"/>
          <p:cNvSpPr/>
          <p:nvPr/>
        </p:nvSpPr>
        <p:spPr>
          <a:xfrm>
            <a:off x="4133088" y="2606040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Case 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33088" y="2926080"/>
            <a:ext cx="694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D080"/>
                </a:solidFill>
              </a:rPr>
              <a:t>0.87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16936" y="2926080"/>
            <a:ext cx="480361" cy="1304469"/>
          </a:xfrm>
          <a:prstGeom prst="line">
            <a:avLst/>
          </a:prstGeom>
          <a:noFill/>
          <a:ln w="19050">
            <a:solidFill>
              <a:srgbClr val="1A7A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58969" y="3910509"/>
            <a:ext cx="694944" cy="640080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12" name="Text 10"/>
          <p:cNvSpPr/>
          <p:nvPr/>
        </p:nvSpPr>
        <p:spPr>
          <a:xfrm>
            <a:off x="3058969" y="3910509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Case B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058969" y="4230549"/>
            <a:ext cx="694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D080"/>
                </a:solidFill>
              </a:rPr>
              <a:t>0.79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59335" y="2926080"/>
            <a:ext cx="1257601" cy="806206"/>
          </a:xfrm>
          <a:prstGeom prst="line">
            <a:avLst/>
          </a:prstGeom>
          <a:noFill/>
          <a:ln w="19050">
            <a:solidFill>
              <a:srgbClr val="1A7A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21007" y="3412246"/>
            <a:ext cx="694944" cy="640080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16" name="Text 14"/>
          <p:cNvSpPr/>
          <p:nvPr/>
        </p:nvSpPr>
        <p:spPr>
          <a:xfrm>
            <a:off x="1321007" y="3412246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Case C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21007" y="3732286"/>
            <a:ext cx="694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D080"/>
                </a:solidFill>
              </a:rPr>
              <a:t>0.74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59335" y="2119874"/>
            <a:ext cx="1257601" cy="806206"/>
          </a:xfrm>
          <a:prstGeom prst="line">
            <a:avLst/>
          </a:prstGeom>
          <a:noFill/>
          <a:ln w="19050">
            <a:solidFill>
              <a:srgbClr val="1A7A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21007" y="1799834"/>
            <a:ext cx="694944" cy="640080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20" name="Text 18"/>
          <p:cNvSpPr/>
          <p:nvPr/>
        </p:nvSpPr>
        <p:spPr>
          <a:xfrm>
            <a:off x="1321007" y="1799834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Case 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321007" y="2119874"/>
            <a:ext cx="694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D080"/>
                </a:solidFill>
              </a:rPr>
              <a:t>0.68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916936" y="1621611"/>
            <a:ext cx="480361" cy="1304469"/>
          </a:xfrm>
          <a:prstGeom prst="line">
            <a:avLst/>
          </a:prstGeom>
          <a:noFill/>
          <a:ln w="19050">
            <a:solidFill>
              <a:srgbClr val="1A7A8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58969" y="1301571"/>
            <a:ext cx="694944" cy="640080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24" name="Text 22"/>
          <p:cNvSpPr/>
          <p:nvPr/>
        </p:nvSpPr>
        <p:spPr>
          <a:xfrm>
            <a:off x="3058969" y="1301571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Case 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058969" y="1621611"/>
            <a:ext cx="694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D080"/>
                </a:solidFill>
              </a:rPr>
              <a:t>0.62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35040" y="1097280"/>
            <a:ext cx="27889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1097280"/>
            <a:ext cx="73152" cy="6858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8" name="Text 26"/>
          <p:cNvSpPr/>
          <p:nvPr/>
        </p:nvSpPr>
        <p:spPr>
          <a:xfrm>
            <a:off x="6172200" y="11338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72200" y="14173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circle = one legal case (query or candidate)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35040" y="1874520"/>
            <a:ext cx="27889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1874520"/>
            <a:ext cx="73152" cy="6858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2" name="Text 30"/>
          <p:cNvSpPr/>
          <p:nvPr/>
        </p:nvSpPr>
        <p:spPr>
          <a:xfrm>
            <a:off x="6172200" y="19110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72200" y="219456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connecting cases — thickness shows similarity strength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35040" y="2651760"/>
            <a:ext cx="27889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35040" y="2651760"/>
            <a:ext cx="73152" cy="6858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6" name="Text 34"/>
          <p:cNvSpPr/>
          <p:nvPr/>
        </p:nvSpPr>
        <p:spPr>
          <a:xfrm>
            <a:off x="6172200" y="26883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Node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172200" y="29718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query case the user wants to search for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035040" y="3429000"/>
            <a:ext cx="27889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035040" y="3429000"/>
            <a:ext cx="73152" cy="6858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0" name="Text 38"/>
          <p:cNvSpPr/>
          <p:nvPr/>
        </p:nvSpPr>
        <p:spPr>
          <a:xfrm>
            <a:off x="6172200" y="34655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Weights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172200" y="374904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scores (0 to 1) are shown on each edge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035040" y="4206240"/>
            <a:ext cx="27889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035040" y="4206240"/>
            <a:ext cx="73152" cy="6858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4" name="Text 42"/>
          <p:cNvSpPr/>
          <p:nvPr/>
        </p:nvSpPr>
        <p:spPr>
          <a:xfrm>
            <a:off x="6172200" y="42428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Useful?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172200" y="45262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picture of relationships; easier than reading a list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3931920" cy="3566160"/>
          </a:xfrm>
          <a:prstGeom prst="rect">
            <a:avLst/>
          </a:prstGeom>
          <a:solidFill>
            <a:srgbClr val="FFF8F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393192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97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⚠  Current Limitations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Only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only on English legal texts. Cannot process Hindi, regional, or other languages.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3682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Similarity Only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62432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only compares text. Does not consider case outcomes, judge decisions, or legal hierarchy.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0723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Update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32841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of cases must be reprocessed when new cases are added.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7764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Multi-modal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03250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use tables, images, or scanned PDFs inside case documents.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1097280"/>
            <a:ext cx="3931920" cy="3566160"/>
          </a:xfrm>
          <a:prstGeom prst="rect">
            <a:avLst/>
          </a:prstGeom>
          <a:solidFill>
            <a:srgbClr val="F0FB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37760" y="1097280"/>
            <a:ext cx="3931920" cy="45720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1097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🚀  Future Improvements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20640" y="16642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0640" y="19202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Hindi and regional Indian language court data for broader use.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20640" y="23682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GNN Models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20640" y="262432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more powerful Graph Attention Networks (GAT) for better understanding.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20640" y="30723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Outcome Prediction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20640" y="332841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likely judgment outcomes based on similar historical cases.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20640" y="37764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System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20640" y="403250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online system with live updates as new cases are added daily.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1D34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3200400"/>
            <a:ext cx="2560320" cy="2560320"/>
          </a:xfrm>
          <a:prstGeom prst="ellipse">
            <a:avLst/>
          </a:prstGeom>
          <a:solidFill>
            <a:srgbClr val="1D3461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0" y="914400"/>
            <a:ext cx="365760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347472" cy="347472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E36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60120" y="1051560"/>
            <a:ext cx="7772400" cy="530352"/>
          </a:xfrm>
          <a:prstGeom prst="rect">
            <a:avLst/>
          </a:prstGeom>
          <a:solidFill>
            <a:srgbClr val="1D3461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051560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legal case similarity system using LegalBERT + cosine similarity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719072"/>
            <a:ext cx="347472" cy="347472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E36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" y="1673352"/>
            <a:ext cx="7772400" cy="530352"/>
          </a:xfrm>
          <a:prstGeom prst="rect">
            <a:avLst/>
          </a:prstGeom>
          <a:solidFill>
            <a:srgbClr val="1D3461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1673352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traditional keyword-based methods (TF-IDF) by a clear margin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340864"/>
            <a:ext cx="347472" cy="347472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340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E36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0120" y="2295144"/>
            <a:ext cx="7772400" cy="530352"/>
          </a:xfrm>
          <a:prstGeom prst="rect">
            <a:avLst/>
          </a:prstGeom>
          <a:solidFill>
            <a:srgbClr val="1D3461">
              <a:alpha val="8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2295144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Recall@5 improved to 0.0735 and MRR improved to 0.1067 vs baseline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962656"/>
            <a:ext cx="347472" cy="347472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962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E36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0120" y="2916936"/>
            <a:ext cx="7772400" cy="530352"/>
          </a:xfrm>
          <a:prstGeom prst="rect">
            <a:avLst/>
          </a:prstGeom>
          <a:solidFill>
            <a:srgbClr val="1D3461">
              <a:alpha val="8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2916936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visualization makes case relationships easy to understand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584448"/>
            <a:ext cx="347472" cy="347472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584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E36"/>
                </a:solidFill>
              </a:rPr>
              <a:t>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60120" y="3538728"/>
            <a:ext cx="7772400" cy="530352"/>
          </a:xfrm>
          <a:prstGeom prst="rect">
            <a:avLst/>
          </a:prstGeom>
          <a:solidFill>
            <a:srgbClr val="1D3461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51560" y="3538728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can save significant time for lawyers, courts, and researchers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4206240"/>
            <a:ext cx="347472" cy="347472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206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E36"/>
                </a:solidFill>
              </a:rPr>
              <a:t>6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60120" y="4160520"/>
            <a:ext cx="7772400" cy="530352"/>
          </a:xfrm>
          <a:prstGeom prst="rect">
            <a:avLst/>
          </a:prstGeom>
          <a:solidFill>
            <a:srgbClr val="1D3461">
              <a:alpha val="8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051560" y="4160520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multilingual support + advanced GNN models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Legal Case Similarity System</dc:title>
  <dc:subject>PptxGenJS Presentation</dc:subject>
  <dc:creator>PptxGenJS</dc:creator>
  <cp:lastModifiedBy>PptxGenJS</cp:lastModifiedBy>
  <cp:revision>1</cp:revision>
  <dcterms:created xsi:type="dcterms:W3CDTF">2026-05-20T17:48:23Z</dcterms:created>
  <dcterms:modified xsi:type="dcterms:W3CDTF">2026-05-20T17:48:23Z</dcterms:modified>
</cp:coreProperties>
</file>